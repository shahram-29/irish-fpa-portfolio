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0B0B0B"/>
                </a:solidFill>
              </a:defRPr>
            </a:pPr>
            <a:r>
              <a:t>Example Software EMEA Ltd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0">
                <a:solidFill>
                  <a:srgbClr val="52514E"/>
                </a:solidFill>
              </a:defRPr>
            </a:pPr>
            <a:r>
              <a:t>Month-end pack: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898781"/>
                </a:solidFill>
              </a:defRPr>
            </a:pPr>
            <a:r>
              <a:t>Simulated company data for a portfolio project. Exchange rates: ECB monthly averages.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898781"/>
                </a:solidFill>
              </a:defRPr>
            </a:pPr>
            <a:r>
              <a:t>Example Software EMEA Ltd · simulated data for a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Revenue, year 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B0B0B"/>
                </a:solidFill>
              </a:defRPr>
            </a:pPr>
            <a:r>
              <a:t>€12.27m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€+225k vs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Operating profit, year to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B0B0B"/>
                </a:solidFill>
              </a:defRPr>
            </a:pPr>
            <a:r>
              <a:t>€4.06m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€+28k vs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Operating profit, full-year outlook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17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B0B0B"/>
                </a:solidFill>
              </a:defRPr>
            </a:pPr>
            <a:r>
              <a:t>€6.66m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€+344k vs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1247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In August, operating profit was €620k, €76k ahead of budget.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Year to date to August 2026, operating profit is €4.06m, €28k (0.7%) ahead of budget.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Revenue is +€225k against budget: volume +€255k, price −€41k, exchange rates +€11k.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EUR revenue: volume +€118k, price −€79k.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GBP revenue: volume −€80k.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USD revenue: volume +€217k, price +€39k.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Cost of revenue is €82k (7%) over budget.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Marketing programmes is €34k (6%) over budget.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Professional fees is €30k (37%) over budget.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R&amp;D: 3 heads under budget (+€142k year to date).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Sales: 1 head over budget (−€47k year to date).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Pay per head is running above budget across departments (−€109k year to date).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Full-year outlook: operating profit €6.66m against a budget of €6.31m (+€344k), using actuals to August and the rolling forecast after.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Profit and loss, year to date to August 2026 (€k)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898781"/>
                </a:solidFill>
              </a:defRPr>
            </a:pPr>
            <a:r>
              <a:t>Example Software EMEA Ltd · simulated data for a portfolio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€k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Variance 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12,268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12,043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+1.9%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Cost of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(1,232)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(1,150)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(82)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-7.1%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11,036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10,892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+1.3%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(5,553)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(5,540)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-0.2%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Marketing programmes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(652)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(618)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-5.5%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Software and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(138)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-10.0%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(144)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-19.9%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Rent and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(360)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(360)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+0.0%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Professional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-37.4%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Operating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(6,971)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(6,856)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(116)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-1.7%</a:t>
                      </a:r>
                    </a:p>
                  </a:txBody>
                  <a:tcPr/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Operating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4,065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+0.7%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0" y="109728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Positive variance = favourable.</a:t>
            </a:r>
          </a:p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Costs are shown in brackets.</a:t>
            </a:r>
          </a:p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Actuals at ECB monthly average rates; budget at budget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Revenue: volume, price and exchange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898781"/>
                </a:solidFill>
              </a:defRPr>
            </a:pPr>
            <a:r>
              <a:t>Example Software EMEA Ltd · simulated data for a portfolio project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583680" cy="345643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188720"/>
          <a:ext cx="4663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€k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FX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6,609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(79)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6,648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2,326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2,261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3,108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3,359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27432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Volume: extra seats at budget price and rate.</a:t>
            </a:r>
          </a:p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Price: price change on actual seats at budget rate.</a:t>
            </a:r>
          </a:p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Exchange rates: actual revenue at actual vs budget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Costs and headcount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898781"/>
                </a:solidFill>
              </a:defRPr>
            </a:pPr>
            <a:r>
              <a:t>Example Software EMEA Ltd · simulated data for a portfolio project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035040" cy="316839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035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27431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Payroll (€k)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Budget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Actual 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Headcount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Cost per head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Variance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Customer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(12)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G&amp;A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(12)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(9)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R&amp;D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(47)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94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(47)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(75)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32918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Heads at the latest month; effects are year to date.</a:t>
            </a:r>
          </a:p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Headcount effect: extra or missing heads at budget cost per head.</a:t>
            </a:r>
          </a:p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Cost per head effect: actual heads at actual vs budget cost per 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Rolling 12-month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898781"/>
                </a:solidFill>
              </a:defRPr>
            </a:pPr>
            <a:r>
              <a:t>Example Software EMEA Ltd · simulated data for a portfolio project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7863840" cy="285957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0" y="1097280"/>
          <a:ext cx="3566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891540"/>
                <a:gridCol w="891540"/>
                <a:gridCol w="8915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Full year (€k)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Latest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/>
                      </a:pPr>
                      <a:r>
                        <a:t>Variance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19,390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18,781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609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Cost of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(1,945)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(1,794)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(151)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Payroll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(8,694)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(8,701)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Marketing programmes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(961)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(927)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(34)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Software and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(229)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(207)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(22)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(216)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(36)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Rent and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(540)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(540)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Professional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(30)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Operating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6,656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6,312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0"/>
                      </a:pPr>
                      <a:r>
                        <a:t>344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52514E"/>
                </a:solidFill>
              </a:defRPr>
            </a:pPr>
            <a:r>
              <a:t>Revenue: seats grow at the median of the last three monthly growth rates; price and FX held at the latest month. Payroll: latest heads plus budgeted hires, employer PRSI 11.40% from October. Other costs: last three months' average.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0B0B0B"/>
                </a:solidFill>
              </a:defRPr>
            </a:pPr>
            <a:r>
              <a:t>Data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898781"/>
                </a:solidFill>
              </a:defRPr>
            </a:pPr>
            <a:r>
              <a:t>Example Software EMEA Ltd · simulated data for a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WARNING: Duplicate postings. 1 repeated posting removed: JE100157</a:t>
            </a:r>
          </a:p>
          <a:p>
            <a:pPr>
              <a:spcAft>
                <a:spcPts val="400"/>
              </a:spcAft>
              <a:defRPr sz="1400" b="0">
                <a:solidFill>
                  <a:srgbClr val="0B0B0B"/>
                </a:solidFill>
              </a:defRPr>
            </a:pPr>
            <a:r>
              <a:t>WARNING: Missing cost centre. 1 line posted to UNALLOCATED: JE100156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Checks run before any numbers are reported: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Duplicate transaction IDs (removed, warning)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Missing cost centre (posted to UNALLOCATED, warning)</a:t>
            </a:r>
          </a:p>
          <a:p>
            <a:pPr>
              <a:spcAft>
                <a:spcPts val="400"/>
              </a:spcAft>
              <a:defRPr sz="1200" b="0">
                <a:solidFill>
                  <a:srgbClr val="52514E"/>
                </a:solidFill>
              </a:defRPr>
            </a:pPr>
            <a:r>
              <a:t>• Unknown cost centre, unmapped account, missing exchange rate (errors: the run stops)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